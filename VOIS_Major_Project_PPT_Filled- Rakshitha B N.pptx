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AF09B-6792-4D66-A5BA-B7F3EEA3A0D4}" v="97" dt="2026-09-10T10:28:29.67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99801" y="3583913"/>
            <a:ext cx="5759158" cy="861498"/>
          </a:xfrm>
        </p:spPr>
        <p:txBody>
          <a:bodyPr vert="horz" lIns="91440" tIns="45720" rIns="91440" bIns="45720" rtlCol="0" anchor="t">
            <a:noAutofit/>
          </a:bodyPr>
          <a:lstStyle/>
          <a:p>
            <a:r>
              <a:rPr lang="en-US" sz="1600" b="0" dirty="0">
                <a:solidFill>
                  <a:schemeClr val="tx1"/>
                </a:solidFill>
              </a:rPr>
              <a:t>Name: Rakshitha B N</a:t>
            </a:r>
            <a:endParaRPr lang="en-IN" sz="1600" b="0" dirty="0">
              <a:solidFill>
                <a:schemeClr val="tx1"/>
              </a:solidFill>
            </a:endParaRPr>
          </a:p>
          <a:p>
            <a:r>
              <a:rPr lang="en-US" sz="1600" b="0" dirty="0">
                <a:solidFill>
                  <a:schemeClr val="tx1"/>
                </a:solidFill>
              </a:rPr>
              <a:t>College: BMS Institute of Technology and Management (BMSIT&amp;M), Bengaluru</a:t>
            </a:r>
            <a:endParaRPr lang="en-IN" sz="1600" b="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14062" y="2938695"/>
            <a:ext cx="9142747" cy="701694"/>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886170" cy="646331"/>
          </a:xfrm>
          <a:prstGeom prst="rect">
            <a:avLst/>
          </a:prstGeom>
          <a:noFill/>
        </p:spPr>
        <p:txBody>
          <a:bodyPr wrap="square" lIns="91440" tIns="45720" rIns="91440" bIns="45720" rtlCol="0" anchor="t">
            <a:spAutoFit/>
          </a:bodyPr>
          <a:lstStyle/>
          <a:p>
            <a:r>
              <a:rPr lang="en-US" b="1" dirty="0"/>
              <a:t>AICTE STU ID : </a:t>
            </a:r>
            <a:r>
              <a:rPr lang="en-US" dirty="0">
                <a:ea typeface="+mn-lt"/>
                <a:cs typeface="+mn-lt"/>
              </a:rPr>
              <a:t>STU6a60e8644cc731784735844</a:t>
            </a:r>
            <a:endParaRPr lang="en-US" b="1" dirty="0">
              <a:ea typeface="+mn-lt"/>
              <a:cs typeface="+mn-lt"/>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827937" cy="3607987"/>
          </a:xfrm>
        </p:spPr>
        <p:txBody>
          <a:bodyPr vert="horz" lIns="91440" tIns="45720" rIns="91440" bIns="45720" rtlCol="0" anchor="t">
            <a:normAutofit fontScale="70000" lnSpcReduction="20000"/>
          </a:bodyPr>
          <a:lstStyle/>
          <a:p>
            <a:pPr algn="just">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600000" cy="5200000"/>
          </a:xfrm>
        </p:spPr>
        <p:txBody>
          <a:bodyPr wrap="square">
            <a:normAutofit/>
          </a:bodyPr>
          <a:lstStyle/>
          <a:p>
            <a:pPr>
              <a:spcBef>
                <a:spcPts val="0"/>
              </a:spcBef>
              <a:spcAft>
                <a:spcPts val="1000"/>
              </a:spcAft>
            </a:pPr>
            <a:r>
              <a:rPr lang="en-GB" sz="2800" dirty="0"/>
              <a:t>Project Description</a:t>
            </a:r>
            <a:br>
              <a:rPr lang="en-GB" sz="2800" dirty="0"/>
            </a:br>
            <a:br>
              <a:rPr lang="en-GB" dirty="0"/>
            </a:br>
            <a:r>
              <a:rPr lang="en-GB" sz="1600" b="0" dirty="0"/>
              <a:t>This project </a:t>
            </a:r>
            <a:r>
              <a:rPr lang="en-GB" sz="1600" b="0" dirty="0" err="1"/>
              <a:t>analyzes</a:t>
            </a:r>
            <a:r>
              <a:rPr lang="en-GB" sz="1600" b="0" dirty="0"/>
              <a:t> a seasonal agriculture performance dataset covering 4,000 farm records across 8 Indian states, 10 districts, 8 crops and 3 cropping seasons (Kharif, Rabi, Zaid.</a:t>
            </a:r>
            <a:br>
              <a:rPr lang="en-GB" dirty="0"/>
            </a:br>
            <a:endParaRPr lang="en-IN" sz="1600"/>
          </a:p>
          <a:p>
            <a:pPr>
              <a:spcBef>
                <a:spcPts val="0"/>
              </a:spcBef>
              <a:spcAft>
                <a:spcPts val="1000"/>
              </a:spcAft>
            </a:pPr>
            <a:r>
              <a:rPr sz="1600" b="0" dirty="0"/>
              <a:t>The dataset captures environmental conditions (rainfall, temperature, humidity, soil health), input usage (fertilizer, pesticide, irrigation, water), and economic outcomes (cost, revenue, profit) for every farm.</a:t>
            </a:r>
          </a:p>
          <a:p>
            <a:pPr>
              <a:spcBef>
                <a:spcPts val="0"/>
              </a:spcBef>
              <a:spcAft>
                <a:spcPts val="1000"/>
              </a:spcAft>
            </a:pPr>
            <a:r>
              <a:rPr sz="1600" b="0" dirty="0"/>
              <a:t>The workflow follows a standard data analytics pipeline: data cleaning (handling missing values in rainfall, soil moisture and yield), exploratory analysis, seasonal comparison using </a:t>
            </a:r>
            <a:r>
              <a:rPr sz="1600" b="0" dirty="0" err="1"/>
              <a:t>groupby</a:t>
            </a:r>
            <a:r>
              <a:rPr sz="1600" b="0" dirty="0"/>
              <a:t>/pivot analysis and ANOVA tests, correlation analysis, and visualization using Python (Pandas, NumPy, Matplotlib, Seaborn, SciPy).</a:t>
            </a:r>
          </a:p>
          <a:p>
            <a:pPr>
              <a:spcBef>
                <a:spcPts val="0"/>
              </a:spcBef>
              <a:spcAft>
                <a:spcPts val="1000"/>
              </a:spcAft>
            </a:pPr>
            <a:r>
              <a:rPr sz="1600" b="0" dirty="0"/>
              <a:t>The goal is to uncover how season, crop choice and irrigation method drive yield, profitability and resource efficiency, and to translate these findings into evidence-based recommendations for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42511"/>
            <a:ext cx="7904481" cy="4438872"/>
          </a:xfrm>
        </p:spPr>
        <p:txBody>
          <a:bodyPr wrap="square">
            <a:normAutofit fontScale="92500" lnSpcReduction="20000"/>
          </a:bodyPr>
          <a:lstStyle/>
          <a:p>
            <a:pPr algn="just">
              <a:lnSpc>
                <a:spcPct val="150000"/>
              </a:lnSpc>
              <a:spcAft>
                <a:spcPts val="1400"/>
              </a:spcAft>
            </a:pPr>
            <a:r>
              <a:rPr sz="1800" b="0"/>
              <a:t>Farmers &amp; farmer cooperatives – to choose season-appropriate crops and irrigation methods</a:t>
            </a:r>
            <a:endParaRPr lang="en-IN" sz="3600" dirty="0"/>
          </a:p>
          <a:p>
            <a:pPr>
              <a:spcAft>
                <a:spcPts val="1400"/>
              </a:spcAft>
            </a:pPr>
            <a:r>
              <a:rPr sz="1800" b="0"/>
              <a:t>State Agriculture Departments – for evidence-based seasonal planning and policy design</a:t>
            </a:r>
          </a:p>
          <a:p>
            <a:pPr>
              <a:spcAft>
                <a:spcPts val="1400"/>
              </a:spcAft>
            </a:pPr>
            <a:r>
              <a:rPr sz="1800" b="0"/>
              <a:t>Agri-input &amp; agribusiness companies – to time fertilizer, seed and irrigation-equipment supply</a:t>
            </a:r>
          </a:p>
          <a:p>
            <a:pPr>
              <a:spcAft>
                <a:spcPts val="1400"/>
              </a:spcAft>
            </a:pPr>
            <a:r>
              <a:rPr sz="1800" b="0"/>
              <a:t>Banks, NBFCs &amp; crop insurers – to assess seasonal risk and set credit/insurance terms</a:t>
            </a:r>
          </a:p>
          <a:p>
            <a:pPr>
              <a:spcAft>
                <a:spcPts val="1400"/>
              </a:spcAft>
            </a:pPr>
            <a:r>
              <a:rPr sz="1800" b="0"/>
              <a:t>Agricultural researchers &amp; extension officers – to study seasonal yield and resource patterns</a:t>
            </a:r>
          </a:p>
          <a:p>
            <a:pPr>
              <a:spcAft>
                <a:spcPts val="1400"/>
              </a:spcAft>
            </a:pPr>
            <a:r>
              <a:rPr sz="1800" b="0"/>
              <a:t>Agri-tech and market intelligence platforms – to power advisory and price-forecasting tools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00000" y="1432560"/>
            <a:ext cx="9500000" cy="5243448"/>
          </a:xfrm>
        </p:spPr>
        <p:txBody>
          <a:bodyPr vert="horz" wrap="square" lIns="91440" tIns="45720" rIns="91440" bIns="45720" rtlCol="0" anchor="t">
            <a:normAutofit/>
          </a:bodyPr>
          <a:lstStyle/>
          <a:p>
            <a:pPr lvl="1">
              <a:lnSpc>
                <a:spcPct val="150000"/>
              </a:lnSpc>
              <a:spcAft>
                <a:spcPts val="600"/>
              </a:spcAft>
            </a:pPr>
            <a:r>
              <a:rPr sz="1600" b="0" dirty="0"/>
              <a:t>Python 3 – core analysis language</a:t>
            </a:r>
            <a:endParaRPr lang="en-IN" dirty="0"/>
          </a:p>
          <a:p>
            <a:pPr>
              <a:spcAft>
                <a:spcPts val="600"/>
              </a:spcAft>
            </a:pPr>
            <a:r>
              <a:rPr sz="1600" b="0" dirty="0"/>
              <a:t>Pandas &amp; NumPy – data cleaning, wrangling and aggregation</a:t>
            </a:r>
          </a:p>
          <a:p>
            <a:pPr>
              <a:spcAft>
                <a:spcPts val="600"/>
              </a:spcAft>
            </a:pPr>
            <a:r>
              <a:rPr sz="1600" b="0" dirty="0"/>
              <a:t>Matplotlib &amp; Seaborn – statistical visualization (bar, box, heatmap, stacked charts)</a:t>
            </a:r>
          </a:p>
          <a:p>
            <a:pPr>
              <a:spcAft>
                <a:spcPts val="600"/>
              </a:spcAft>
            </a:pPr>
            <a:r>
              <a:rPr sz="1600" b="0" dirty="0"/>
              <a:t>SciPy (stats) – ANOVA significance testing across seasons</a:t>
            </a:r>
          </a:p>
          <a:p>
            <a:pPr>
              <a:spcAft>
                <a:spcPts val="600"/>
              </a:spcAft>
            </a:pPr>
            <a:r>
              <a:rPr lang="en-US" sz="1600" dirty="0"/>
              <a:t>VS</a:t>
            </a:r>
            <a:r>
              <a:rPr lang="en-US" sz="1600" b="0" dirty="0"/>
              <a:t> </a:t>
            </a:r>
            <a:r>
              <a:rPr lang="en-US" sz="1600" dirty="0"/>
              <a:t>Code </a:t>
            </a:r>
            <a:r>
              <a:rPr sz="1600" b="0" dirty="0"/>
              <a:t>– documenting the full analysis workflow</a:t>
            </a:r>
          </a:p>
          <a:p>
            <a:pPr>
              <a:spcAft>
                <a:spcPts val="600"/>
              </a:spcAft>
            </a:pPr>
            <a:r>
              <a:rPr sz="1600" b="0" dirty="0"/>
              <a:t>Microsoft PowerPoint – project reporting and presentation</a:t>
            </a:r>
          </a:p>
          <a:p>
            <a:pPr>
              <a:spcAft>
                <a:spcPts val="600"/>
              </a:spcAft>
            </a:pPr>
            <a:r>
              <a:rPr sz="1600" b="0" dirty="0"/>
              <a:t>GitHub – version control and project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t>Yield by Season</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100"/>
              <a:t>Kharif shows the highest average yield (5.63 t/ha); ANOVA p=0.21 (not significant)</a:t>
            </a:r>
            <a:endParaRPr lang="en-GB" sz="2000" dirty="0"/>
          </a:p>
        </p:txBody>
      </p:sp>
      <p:pic>
        <p:nvPicPr>
          <p:cNvPr id="24" name="Picture 23" descr="01_avg_yield_season.png"/>
          <p:cNvPicPr>
            <a:picLocks noChangeAspect="1"/>
          </p:cNvPicPr>
          <p:nvPr/>
        </p:nvPicPr>
        <p:blipFill>
          <a:blip r:embed="rId3"/>
          <a:stretch>
            <a:fillRect/>
          </a:stretch>
        </p:blipFill>
        <p:spPr>
          <a:xfrm>
            <a:off x="2309700" y="2050000"/>
            <a:ext cx="6374999" cy="425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t>Profit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100"/>
              <a:t>Kharif is most profitable (₹1.79L avg); Zaid runs a net loss (ANOVA p&lt;0.001, highly significant)</a:t>
            </a:r>
            <a:endParaRPr lang="en-GB" sz="2000" dirty="0"/>
          </a:p>
        </p:txBody>
      </p:sp>
      <p:pic>
        <p:nvPicPr>
          <p:cNvPr id="31" name="Picture 30" descr="02_avg_profit_season.png"/>
          <p:cNvPicPr>
            <a:picLocks noChangeAspect="1"/>
          </p:cNvPicPr>
          <p:nvPr/>
        </p:nvPicPr>
        <p:blipFill>
          <a:blip r:embed="rId3"/>
          <a:stretch>
            <a:fillRect/>
          </a:stretch>
        </p:blipFill>
        <p:spPr>
          <a:xfrm>
            <a:off x="2309700" y="2050000"/>
            <a:ext cx="6374999" cy="425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t>Profit: Irrigation x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100"/>
              <a:t>Drip irrigation gives the highest average profit in every single season</a:t>
            </a:r>
            <a:endParaRPr lang="en-GB" sz="2000" dirty="0"/>
          </a:p>
        </p:txBody>
      </p:sp>
      <p:pic>
        <p:nvPicPr>
          <p:cNvPr id="31" name="Picture 30" descr="05_profit_irrigation_heatmap.png"/>
          <p:cNvPicPr>
            <a:picLocks noChangeAspect="1"/>
          </p:cNvPicPr>
          <p:nvPr/>
        </p:nvPicPr>
        <p:blipFill>
          <a:blip r:embed="rId3"/>
          <a:stretch>
            <a:fillRect/>
          </a:stretch>
        </p:blipFill>
        <p:spPr>
          <a:xfrm>
            <a:off x="2309700" y="2050000"/>
            <a:ext cx="6374999" cy="425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t>Crop Yield Across Seasons</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100"/>
              <a:t>Every crop, incl. Sugarcane (~53 t/ha), peaks in Kharif and dips in Zaid</a:t>
            </a:r>
            <a:endParaRPr lang="en-GB" sz="2000" dirty="0"/>
          </a:p>
        </p:txBody>
      </p:sp>
      <p:pic>
        <p:nvPicPr>
          <p:cNvPr id="31" name="Picture 30" descr="06_crop_yield_season.png"/>
          <p:cNvPicPr>
            <a:picLocks noChangeAspect="1"/>
          </p:cNvPicPr>
          <p:nvPr/>
        </p:nvPicPr>
        <p:blipFill>
          <a:blip r:embed="rId3"/>
          <a:stretch>
            <a:fillRect/>
          </a:stretch>
        </p:blipFill>
        <p:spPr>
          <a:xfrm>
            <a:off x="2663867" y="2050000"/>
            <a:ext cx="5666666" cy="425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b="1"/>
              <a:t>Correlation Heatmap</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100"/>
              <a:t>Yield correlates most with Water_Used (r=0.39); Profit is unrelated to fertilizer/pesticide spend</a:t>
            </a:r>
            <a:endParaRPr lang="en-GB" sz="2000" dirty="0"/>
          </a:p>
        </p:txBody>
      </p:sp>
      <p:pic>
        <p:nvPicPr>
          <p:cNvPr id="31" name="Picture 30" descr="09_correlation_heatmap.png"/>
          <p:cNvPicPr>
            <a:picLocks noChangeAspect="1"/>
          </p:cNvPicPr>
          <p:nvPr/>
        </p:nvPicPr>
        <p:blipFill>
          <a:blip r:embed="rId3"/>
          <a:stretch>
            <a:fillRect/>
          </a:stretch>
        </p:blipFill>
        <p:spPr>
          <a:xfrm>
            <a:off x="2663867" y="2050000"/>
            <a:ext cx="5666666" cy="42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1500000"/>
            <a:ext cx="8700000" cy="4600000"/>
          </a:xfrm>
          <a:prstGeom prst="rect">
            <a:avLst/>
          </a:prstGeom>
          <a:noFill/>
        </p:spPr>
        <p:txBody>
          <a:bodyPr wrap="square">
            <a:spAutoFit/>
          </a:bodyPr>
          <a:lstStyle/>
          <a:p>
            <a:pPr>
              <a:spcAft>
                <a:spcPts val="1200"/>
              </a:spcAft>
            </a:pPr>
            <a:r>
              <a:rPr sz="1700"/>
              <a:t>Extend the analysis with district- and farm-level weather/soil data (e.g. real IMD rainfall records) for higher-resolution seasonal insights</a:t>
            </a:r>
          </a:p>
          <a:p>
            <a:pPr>
              <a:spcAft>
                <a:spcPts val="1200"/>
              </a:spcAft>
            </a:pPr>
            <a:r>
              <a:rPr sz="1700"/>
              <a:t>Build a predictive model (regression / ML) to forecast yield and profit from season, crop and input variables</a:t>
            </a:r>
          </a:p>
          <a:p>
            <a:pPr>
              <a:spcAft>
                <a:spcPts val="1200"/>
              </a:spcAft>
            </a:pPr>
            <a:r>
              <a:rPr sz="1700"/>
              <a:t>Incorporate multi-year data to study year-on-year seasonal trends rather than a single-season snapshot</a:t>
            </a:r>
          </a:p>
          <a:p>
            <a:pPr>
              <a:spcAft>
                <a:spcPts val="1200"/>
              </a:spcAft>
            </a:pPr>
            <a:r>
              <a:rPr sz="1700"/>
              <a:t>Develop an interactive dashboard (e.g. Power BI / Streamlit) for farmers and officials to explore seasonal performance by state and crop</a:t>
            </a:r>
          </a:p>
          <a:p>
            <a:pPr>
              <a:spcAft>
                <a:spcPts val="1200"/>
              </a:spcAft>
            </a:pPr>
            <a:r>
              <a:rPr sz="1700"/>
              <a:t>Add crop-recommendation logic that suggests the most profitable crop-season-irrigation combination for a given region</a:t>
            </a:r>
          </a:p>
          <a:p>
            <a:pPr>
              <a:spcAft>
                <a:spcPts val="1200"/>
              </a:spcAft>
            </a:pPr>
            <a:r>
              <a:rPr sz="1700"/>
              <a:t>Integrate market price forecasting to link seasonal production patterns with expected revenue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lIns="91440" tIns="45720" rIns="91440" bIns="45720" anchor="t">
            <a:spAutoFit/>
          </a:bodyPr>
          <a:lstStyle/>
          <a:p>
            <a:r>
              <a:rPr lang="en-US" dirty="0">
                <a:ea typeface="+mn-lt"/>
                <a:cs typeface="+mn-lt"/>
              </a:rPr>
              <a:t>https://github.com/Rakshitha-52/seasonal_crop_analysis.git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A8D8AEA-871B-781D-3261-535A87CFFD2A}"/>
              </a:ext>
            </a:extLst>
          </p:cNvPr>
          <p:cNvPicPr>
            <a:picLocks noChangeAspect="1"/>
          </p:cNvPicPr>
          <p:nvPr/>
        </p:nvPicPr>
        <p:blipFill>
          <a:blip r:embed="rId3"/>
          <a:stretch>
            <a:fillRect/>
          </a:stretch>
        </p:blipFill>
        <p:spPr>
          <a:xfrm>
            <a:off x="680323" y="1513562"/>
            <a:ext cx="7939932" cy="49582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analyzes a seasonal agriculture performance dataset covering 4,000 farm records across 8 Indian states, 10 districts, 8 crops and 3 cropping seasons (Kharif, Rabi, Zaid.  The dataset captures environmental conditions (rainfall, temperature, humidity, soil health), input usage (fertilizer, pesticide, irrigation, water), and economic outcomes (cost, revenue, profit) for every farm. The workflow follows a standard data analytics pipeline: data cleaning (handling missing values in rainfall, soil moisture and yield), exploratory analysis, seasonal comparison using groupby/pivot analysis and ANOVA tests, correlation analysis, and visualization using Python (Pandas, NumPy, Matplotlib, Seaborn, SciPy). The goal is to uncover how season, crop choice and irrigation method drive yield, profitability and resource efficiency, and to translate these findings into evidence-based recommendations for seasonal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149</cp:revision>
  <dcterms:created xsi:type="dcterms:W3CDTF">2021-07-11T13:13:15Z</dcterms:created>
  <dcterms:modified xsi:type="dcterms:W3CDTF">2026-09-10T10:29:13Z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